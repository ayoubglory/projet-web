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49"/>
  </p:notesMasterIdLst>
  <p:sldIdLst>
    <p:sldId id="256" r:id="rId2"/>
    <p:sldId id="257" r:id="rId3"/>
    <p:sldId id="268" r:id="rId4"/>
    <p:sldId id="317" r:id="rId5"/>
    <p:sldId id="258" r:id="rId6"/>
    <p:sldId id="259" r:id="rId7"/>
    <p:sldId id="261" r:id="rId8"/>
    <p:sldId id="270" r:id="rId9"/>
    <p:sldId id="271" r:id="rId10"/>
    <p:sldId id="272" r:id="rId11"/>
    <p:sldId id="273" r:id="rId12"/>
    <p:sldId id="275" r:id="rId13"/>
    <p:sldId id="276" r:id="rId14"/>
    <p:sldId id="294" r:id="rId15"/>
    <p:sldId id="295" r:id="rId16"/>
    <p:sldId id="274" r:id="rId17"/>
    <p:sldId id="277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6" r:id="rId34"/>
    <p:sldId id="297" r:id="rId35"/>
    <p:sldId id="298" r:id="rId36"/>
    <p:sldId id="299" r:id="rId37"/>
    <p:sldId id="300" r:id="rId38"/>
    <p:sldId id="301" r:id="rId39"/>
    <p:sldId id="315" r:id="rId40"/>
    <p:sldId id="316" r:id="rId41"/>
    <p:sldId id="302" r:id="rId42"/>
    <p:sldId id="304" r:id="rId43"/>
    <p:sldId id="303" r:id="rId44"/>
    <p:sldId id="305" r:id="rId45"/>
    <p:sldId id="306" r:id="rId46"/>
    <p:sldId id="265" r:id="rId47"/>
    <p:sldId id="260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768D3-B7B7-4BF6-BFF6-EA51CFA95EA6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A7C3A-8A4C-4B5C-99D4-3E7C9E52CA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831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A7C3A-8A4C-4B5C-99D4-3E7C9E52CAA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90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A7C3A-8A4C-4B5C-99D4-3E7C9E52CAA1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bin"/><Relationship Id="rId5" Type="http://schemas.openxmlformats.org/officeDocument/2006/relationships/image" Target="../media/image3.bin"/><Relationship Id="rId4" Type="http://schemas.openxmlformats.org/officeDocument/2006/relationships/image" Target="../media/image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ayoubglory.github.io/projet-web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DC5C48-686C-8485-8A80-48A33525C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48514" y="3429000"/>
            <a:ext cx="307818" cy="192385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2FBDCF-F364-15FC-7FED-BC3C2B70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786" y="5393273"/>
            <a:ext cx="7315200" cy="914400"/>
          </a:xfrm>
        </p:spPr>
        <p:txBody>
          <a:bodyPr/>
          <a:lstStyle/>
          <a:p>
            <a:pPr algn="ctr"/>
            <a:r>
              <a:rPr lang="fr-FR" i="1" cap="none" dirty="0">
                <a:solidFill>
                  <a:schemeClr val="tx1"/>
                </a:solidFill>
              </a:rPr>
              <a:t>Année Universitaire: 2025 2026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49980D-5F81-5C9E-2C15-5AE4033EBECF}"/>
              </a:ext>
            </a:extLst>
          </p:cNvPr>
          <p:cNvSpPr txBox="1"/>
          <p:nvPr/>
        </p:nvSpPr>
        <p:spPr>
          <a:xfrm>
            <a:off x="891786" y="4539498"/>
            <a:ext cx="2009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/>
              <a:t>Réalisé par:</a:t>
            </a:r>
          </a:p>
          <a:p>
            <a:r>
              <a:rPr lang="fr-FR" dirty="0"/>
              <a:t>AYOUB EL ACHAB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98D1E5-15D2-841E-6717-DB8AB2A2AF33}"/>
              </a:ext>
            </a:extLst>
          </p:cNvPr>
          <p:cNvSpPr txBox="1"/>
          <p:nvPr/>
        </p:nvSpPr>
        <p:spPr>
          <a:xfrm>
            <a:off x="6301212" y="4332053"/>
            <a:ext cx="2498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cap="none" dirty="0">
                <a:solidFill>
                  <a:schemeClr val="tx1"/>
                </a:solidFill>
              </a:rPr>
              <a:t>Encadré par:</a:t>
            </a:r>
          </a:p>
          <a:p>
            <a:pPr algn="ctr"/>
            <a:r>
              <a:rPr lang="fr-FR" sz="1800" cap="none" dirty="0">
                <a:solidFill>
                  <a:schemeClr val="tx1"/>
                </a:solidFill>
              </a:rPr>
              <a:t>Pr. Houda </a:t>
            </a:r>
            <a:r>
              <a:rPr lang="fr-FR" sz="1800" cap="none" dirty="0" err="1">
                <a:solidFill>
                  <a:schemeClr val="tx1"/>
                </a:solidFill>
              </a:rPr>
              <a:t>Mouttalib</a:t>
            </a:r>
            <a:r>
              <a:rPr lang="fr-FR" sz="1800" cap="none" dirty="0">
                <a:solidFill>
                  <a:schemeClr val="tx1"/>
                </a:solidFill>
              </a:rPr>
              <a:t> 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B573BA9-658F-878C-7CCD-D45B49D34260}"/>
              </a:ext>
            </a:extLst>
          </p:cNvPr>
          <p:cNvSpPr txBox="1"/>
          <p:nvPr/>
        </p:nvSpPr>
        <p:spPr>
          <a:xfrm>
            <a:off x="1307769" y="1599717"/>
            <a:ext cx="696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Projets de développement web HTML/CSS/JS/CRUD(</a:t>
            </a:r>
            <a:r>
              <a:rPr lang="fr-FR" sz="3200" dirty="0" err="1"/>
              <a:t>localstorage-json</a:t>
            </a:r>
            <a:r>
              <a:rPr lang="fr-FR" sz="3200" dirty="0"/>
              <a:t>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C642B11-C6BA-F1A9-118A-8D7F20E39846}"/>
              </a:ext>
            </a:extLst>
          </p:cNvPr>
          <p:cNvSpPr txBox="1"/>
          <p:nvPr/>
        </p:nvSpPr>
        <p:spPr>
          <a:xfrm>
            <a:off x="1461669" y="2965885"/>
            <a:ext cx="66542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/>
              <a:t>Sujet:MyManager</a:t>
            </a:r>
            <a:r>
              <a:rPr lang="fr-FR" sz="3200" b="1" dirty="0"/>
              <a:t> - Backoffice de Gestion Restaurant</a:t>
            </a:r>
          </a:p>
        </p:txBody>
      </p:sp>
    </p:spTree>
    <p:extLst>
      <p:ext uri="{BB962C8B-B14F-4D97-AF65-F5344CB8AC3E}">
        <p14:creationId xmlns:p14="http://schemas.microsoft.com/office/powerpoint/2010/main" val="226618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232C0-EC5B-62BF-2D8C-9A8DA203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Plan de la présentation</a:t>
            </a:r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9E5493B6-F4E8-CBFF-9951-D4BA9E269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alphaModFix/>
          </a:blip>
          <a:stretch/>
        </p:blipFill>
        <p:spPr>
          <a:xfrm>
            <a:off x="7155535" y="854232"/>
            <a:ext cx="494247" cy="514840"/>
          </a:xfrm>
          <a:prstGeom prst="rect">
            <a:avLst/>
          </a:prstGeom>
        </p:spPr>
      </p:pic>
      <p:pic>
        <p:nvPicPr>
          <p:cNvPr id="5" name="Rect">
            <a:extLst>
              <a:ext uri="{FF2B5EF4-FFF2-40B4-BE49-F238E27FC236}">
                <a16:creationId xmlns:a16="http://schemas.microsoft.com/office/drawing/2014/main" id="{F2429889-37D3-71E8-370D-325D677633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7126793" y="2158625"/>
            <a:ext cx="457200" cy="476250"/>
          </a:xfrm>
          <a:prstGeom prst="rect">
            <a:avLst/>
          </a:prstGeom>
        </p:spPr>
      </p:pic>
      <p:pic>
        <p:nvPicPr>
          <p:cNvPr id="7" name="Rect">
            <a:extLst>
              <a:ext uri="{FF2B5EF4-FFF2-40B4-BE49-F238E27FC236}">
                <a16:creationId xmlns:a16="http://schemas.microsoft.com/office/drawing/2014/main" id="{96EB486E-4DB8-9DFD-3410-234C705DE47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7126793" y="4560421"/>
            <a:ext cx="457200" cy="476250"/>
          </a:xfrm>
          <a:prstGeom prst="rect">
            <a:avLst/>
          </a:prstGeom>
        </p:spPr>
      </p:pic>
      <p:pic>
        <p:nvPicPr>
          <p:cNvPr id="8" name="Rect">
            <a:extLst>
              <a:ext uri="{FF2B5EF4-FFF2-40B4-BE49-F238E27FC236}">
                <a16:creationId xmlns:a16="http://schemas.microsoft.com/office/drawing/2014/main" id="{54FAD042-7CA3-D121-608A-0EC0AD193B1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7192582" y="3424428"/>
            <a:ext cx="457200" cy="47625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C30E96D-B7E3-7B62-22F2-9EDC1AB29F52}"/>
              </a:ext>
            </a:extLst>
          </p:cNvPr>
          <p:cNvSpPr txBox="1"/>
          <p:nvPr/>
        </p:nvSpPr>
        <p:spPr>
          <a:xfrm>
            <a:off x="7941808" y="765833"/>
            <a:ext cx="39366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-4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Introduction</a:t>
            </a:r>
          </a:p>
          <a:p>
            <a:endParaRPr lang="fr-FR" dirty="0"/>
          </a:p>
        </p:txBody>
      </p:sp>
      <p:sp>
        <p:nvSpPr>
          <p:cNvPr id="10" name="Primary Heading-1">
            <a:extLst>
              <a:ext uri="{FF2B5EF4-FFF2-40B4-BE49-F238E27FC236}">
                <a16:creationId xmlns:a16="http://schemas.microsoft.com/office/drawing/2014/main" id="{7BDE4CA5-81CA-968E-DDFC-2E7942A4690B}"/>
              </a:ext>
            </a:extLst>
          </p:cNvPr>
          <p:cNvSpPr txBox="1"/>
          <p:nvPr/>
        </p:nvSpPr>
        <p:spPr>
          <a:xfrm>
            <a:off x="8127056" y="2187124"/>
            <a:ext cx="6236008" cy="376963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spc="-42" dirty="0" err="1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Objectifs</a:t>
            </a:r>
            <a:endParaRPr lang="en-US" sz="3200" spc="-42" dirty="0">
              <a:solidFill>
                <a:srgbClr val="181C24">
                  <a:alpha val="100000"/>
                </a:srgbClr>
              </a:solidFill>
              <a:latin typeface="IBM Plex Serif SemiBold" panose="00000700000000000000" pitchFamily="2" charset="0"/>
            </a:endParaRPr>
          </a:p>
        </p:txBody>
      </p:sp>
      <p:sp>
        <p:nvSpPr>
          <p:cNvPr id="11" name="Primary Heading-2">
            <a:extLst>
              <a:ext uri="{FF2B5EF4-FFF2-40B4-BE49-F238E27FC236}">
                <a16:creationId xmlns:a16="http://schemas.microsoft.com/office/drawing/2014/main" id="{9ADDF76E-AB40-8CA2-2715-904A3F86DBE6}"/>
              </a:ext>
            </a:extLst>
          </p:cNvPr>
          <p:cNvSpPr txBox="1"/>
          <p:nvPr/>
        </p:nvSpPr>
        <p:spPr>
          <a:xfrm>
            <a:off x="8053196" y="3554491"/>
            <a:ext cx="6791325" cy="37189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spc="-42" dirty="0" err="1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Démonstration</a:t>
            </a:r>
            <a:endParaRPr lang="en-US" sz="3200" spc="-42" dirty="0">
              <a:solidFill>
                <a:srgbClr val="181C24">
                  <a:alpha val="100000"/>
                </a:srgbClr>
              </a:solidFill>
              <a:latin typeface="IBM Plex Serif SemiBold" panose="00000700000000000000" pitchFamily="2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93B561D-D132-BBAC-B053-0DE45BEFFCDD}"/>
              </a:ext>
            </a:extLst>
          </p:cNvPr>
          <p:cNvSpPr txBox="1"/>
          <p:nvPr/>
        </p:nvSpPr>
        <p:spPr>
          <a:xfrm>
            <a:off x="7941808" y="4567375"/>
            <a:ext cx="7206558" cy="469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spc="-4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582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5D377-B99C-9B43-F39C-AAFE001F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4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Introduction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7DED86-B38A-48BA-D46B-465C293E9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1" y="1123837"/>
            <a:ext cx="7315200" cy="5214281"/>
          </a:xfrm>
        </p:spPr>
        <p:txBody>
          <a:bodyPr>
            <a:normAutofit/>
          </a:bodyPr>
          <a:lstStyle/>
          <a:p>
            <a:pPr algn="just"/>
            <a:r>
              <a:rPr lang="fr-FR" b="1" u="sng" dirty="0">
                <a:solidFill>
                  <a:schemeClr val="tx1"/>
                </a:solidFill>
              </a:rPr>
              <a:t>Contexte du Projet:</a:t>
            </a:r>
          </a:p>
          <a:p>
            <a:pPr algn="just"/>
            <a:r>
              <a:rPr lang="fr-FR" dirty="0">
                <a:solidFill>
                  <a:schemeClr val="tx1"/>
                </a:solidFill>
              </a:rPr>
              <a:t>Dans un secteur de la restauration de plus en plus compétitif et digitalisé, les restaurateurs ont besoin d'outils performants pour gérer efficacement leur établissement. Face à ce constat, nous avons développé </a:t>
            </a:r>
            <a:r>
              <a:rPr lang="fr-FR" dirty="0" err="1">
                <a:solidFill>
                  <a:schemeClr val="tx1"/>
                </a:solidFill>
              </a:rPr>
              <a:t>MyManager</a:t>
            </a:r>
            <a:r>
              <a:rPr lang="fr-FR" dirty="0">
                <a:solidFill>
                  <a:schemeClr val="tx1"/>
                </a:solidFill>
              </a:rPr>
              <a:t>, une application backoffice complète spécialement conçue pour répondre aux besoins quotidiens de gestion d'un restaurant.</a:t>
            </a:r>
          </a:p>
          <a:p>
            <a:pPr algn="just"/>
            <a:r>
              <a:rPr lang="fr-FR" b="1" u="sng" dirty="0">
                <a:solidFill>
                  <a:schemeClr val="tx1"/>
                </a:solidFill>
              </a:rPr>
              <a:t>Notre Mission:</a:t>
            </a:r>
          </a:p>
          <a:p>
            <a:pPr algn="just"/>
            <a:r>
              <a:rPr lang="fr-FR" dirty="0">
                <a:solidFill>
                  <a:schemeClr val="tx1"/>
                </a:solidFill>
              </a:rPr>
              <a:t>Développer une application web moderne, intuitive et performante qui permet aux gérants de restaurants de :</a:t>
            </a:r>
          </a:p>
          <a:p>
            <a:pPr algn="just"/>
            <a:r>
              <a:rPr lang="fr-FR" dirty="0">
                <a:solidFill>
                  <a:schemeClr val="tx1"/>
                </a:solidFill>
              </a:rPr>
              <a:t>Centraliser toutes leurs opérations quotidiennes(</a:t>
            </a:r>
            <a:r>
              <a:rPr lang="fr-FR" dirty="0" err="1">
                <a:solidFill>
                  <a:schemeClr val="tx1"/>
                </a:solidFill>
              </a:rPr>
              <a:t>exemples:dans</a:t>
            </a:r>
            <a:r>
              <a:rPr lang="fr-FR" dirty="0">
                <a:solidFill>
                  <a:schemeClr val="tx1"/>
                </a:solidFill>
              </a:rPr>
              <a:t> le tableau bord: afficher le nombre total des plats, tables ,des </a:t>
            </a:r>
            <a:r>
              <a:rPr lang="fr-FR" dirty="0" err="1">
                <a:solidFill>
                  <a:schemeClr val="tx1"/>
                </a:solidFill>
              </a:rPr>
              <a:t>employes</a:t>
            </a:r>
            <a:r>
              <a:rPr lang="fr-FR" dirty="0">
                <a:solidFill>
                  <a:schemeClr val="tx1"/>
                </a:solidFill>
              </a:rPr>
              <a:t>..) </a:t>
            </a:r>
          </a:p>
          <a:p>
            <a:pPr algn="just"/>
            <a:r>
              <a:rPr lang="fr-FR" dirty="0">
                <a:solidFill>
                  <a:schemeClr val="tx1"/>
                </a:solidFill>
              </a:rPr>
              <a:t>Prendre des décisions éclairées basées sur des données (</a:t>
            </a:r>
            <a:r>
              <a:rPr lang="fr-FR" dirty="0" err="1">
                <a:solidFill>
                  <a:schemeClr val="tx1"/>
                </a:solidFill>
              </a:rPr>
              <a:t>exemple:ajouter</a:t>
            </a:r>
            <a:r>
              <a:rPr lang="fr-FR" dirty="0">
                <a:solidFill>
                  <a:schemeClr val="tx1"/>
                </a:solidFill>
              </a:rPr>
              <a:t> ou supprimer ou modifier des commandes)</a:t>
            </a:r>
          </a:p>
          <a:p>
            <a:pPr algn="just"/>
            <a:endParaRPr lang="fr-FR" dirty="0">
              <a:solidFill>
                <a:schemeClr val="tx1"/>
              </a:solidFill>
            </a:endParaRPr>
          </a:p>
          <a:p>
            <a:pPr algn="just"/>
            <a:endParaRPr lang="fr-FR" dirty="0">
              <a:solidFill>
                <a:schemeClr val="tx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843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514BC8-08C2-3AF0-A57A-F483E8FD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/>
              <a:t>Les </a:t>
            </a:r>
            <a:r>
              <a:rPr lang="en-US" sz="5900" spc="-100" dirty="0" err="1"/>
              <a:t>outils</a:t>
            </a:r>
            <a:r>
              <a:rPr lang="en-US" sz="5900" spc="-100" dirty="0"/>
              <a:t> et bibliothèque </a:t>
            </a:r>
            <a:r>
              <a:rPr lang="en-US" sz="5900" spc="-100" dirty="0" err="1"/>
              <a:t>utiliser</a:t>
            </a:r>
            <a:endParaRPr lang="en-US" sz="5900" spc="-1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D2DE7D3-0C6F-C3C2-F9EA-A6BD9BE12B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884464"/>
              </p:ext>
            </p:extLst>
          </p:nvPr>
        </p:nvGraphicFramePr>
        <p:xfrm>
          <a:off x="2134364" y="484632"/>
          <a:ext cx="8508488" cy="355675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31264">
                  <a:extLst>
                    <a:ext uri="{9D8B030D-6E8A-4147-A177-3AD203B41FA5}">
                      <a16:colId xmlns:a16="http://schemas.microsoft.com/office/drawing/2014/main" val="3421671673"/>
                    </a:ext>
                  </a:extLst>
                </a:gridCol>
                <a:gridCol w="2603524">
                  <a:extLst>
                    <a:ext uri="{9D8B030D-6E8A-4147-A177-3AD203B41FA5}">
                      <a16:colId xmlns:a16="http://schemas.microsoft.com/office/drawing/2014/main" val="405367379"/>
                    </a:ext>
                  </a:extLst>
                </a:gridCol>
                <a:gridCol w="1662835">
                  <a:extLst>
                    <a:ext uri="{9D8B030D-6E8A-4147-A177-3AD203B41FA5}">
                      <a16:colId xmlns:a16="http://schemas.microsoft.com/office/drawing/2014/main" val="3646741148"/>
                    </a:ext>
                  </a:extLst>
                </a:gridCol>
                <a:gridCol w="2310865">
                  <a:extLst>
                    <a:ext uri="{9D8B030D-6E8A-4147-A177-3AD203B41FA5}">
                      <a16:colId xmlns:a16="http://schemas.microsoft.com/office/drawing/2014/main" val="2208582968"/>
                    </a:ext>
                  </a:extLst>
                </a:gridCol>
              </a:tblGrid>
              <a:tr h="94107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24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Bibliothèque</a:t>
                      </a:r>
                    </a:p>
                  </a:txBody>
                  <a:tcPr marL="0" marR="182437" marT="27366" marB="13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24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Fichiers utilisant</a:t>
                      </a:r>
                    </a:p>
                  </a:txBody>
                  <a:tcPr marL="0" marR="182437" marT="27366" marB="13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24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Fréquence d'appel</a:t>
                      </a:r>
                    </a:p>
                  </a:txBody>
                  <a:tcPr marL="0" marR="182437" marT="27366" marB="13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24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Usage principal</a:t>
                      </a:r>
                    </a:p>
                  </a:txBody>
                  <a:tcPr marL="0" marR="182437" marT="27366" marB="13682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204809"/>
                  </a:ext>
                </a:extLst>
              </a:tr>
              <a:tr h="563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Bootstrap</a:t>
                      </a:r>
                      <a:endParaRPr lang="fr-FR" sz="18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Tous (100%)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Constante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Layout, composants</a:t>
                      </a:r>
                    </a:p>
                  </a:txBody>
                  <a:tcPr marL="0" marR="136828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836816"/>
                  </a:ext>
                </a:extLst>
              </a:tr>
              <a:tr h="563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Font Awesome</a:t>
                      </a:r>
                      <a:endParaRPr lang="fr-FR" sz="18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Tous (100%)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 icônes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UI/UX, navigation</a:t>
                      </a:r>
                    </a:p>
                  </a:txBody>
                  <a:tcPr marL="0" marR="136828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10716"/>
                  </a:ext>
                </a:extLst>
              </a:tr>
              <a:tr h="5636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Chart.js</a:t>
                      </a:r>
                      <a:endParaRPr lang="fr-FR" sz="18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dashboard.js (1)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6 graphiques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Visualisation données</a:t>
                      </a:r>
                    </a:p>
                  </a:txBody>
                  <a:tcPr marL="0" marR="136828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298147"/>
                  </a:ext>
                </a:extLst>
              </a:tr>
              <a:tr h="9247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jsPDF</a:t>
                      </a:r>
                      <a:endParaRPr lang="fr-FR" sz="18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plats.js, commandes.js... (5)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Au besoin</a:t>
                      </a:r>
                    </a:p>
                  </a:txBody>
                  <a:tcPr marL="0" marR="182437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8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Export fonctionnalité</a:t>
                      </a:r>
                    </a:p>
                  </a:txBody>
                  <a:tcPr marL="0" marR="136828" marT="41048" marB="13682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44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921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FD7A9-98C9-05C9-A802-94DFBE1E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48215"/>
            <a:ext cx="3471333" cy="4857603"/>
          </a:xfrm>
        </p:spPr>
        <p:txBody>
          <a:bodyPr>
            <a:normAutofit/>
          </a:bodyPr>
          <a:lstStyle/>
          <a:p>
            <a:r>
              <a:rPr lang="fr-FR" sz="3200" b="1" u="sng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Objectif : </a:t>
            </a:r>
            <a: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Créer une application web complète de gestion restaurant avec :</a:t>
            </a:r>
            <a:b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5 entités CRUD minimum et deux  page  web</a:t>
            </a:r>
            <a:b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(authentification+ index(tableau de bord)</a:t>
            </a:r>
            <a:br>
              <a:rPr lang="fr-FR" sz="2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br>
              <a:rPr lang="en-US" sz="32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br>
              <a:rPr lang="fr-FR" dirty="0"/>
            </a:br>
            <a:endParaRPr lang="fr-FR" dirty="0"/>
          </a:p>
        </p:txBody>
      </p:sp>
      <p:pic>
        <p:nvPicPr>
          <p:cNvPr id="5" name="Rect">
            <a:extLst>
              <a:ext uri="{FF2B5EF4-FFF2-40B4-BE49-F238E27FC236}">
                <a16:creationId xmlns:a16="http://schemas.microsoft.com/office/drawing/2014/main" id="{F90D5BF2-FF97-19C9-45D2-B08A53527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>
            <a:off x="7974712" y="888446"/>
            <a:ext cx="766291" cy="766291"/>
          </a:xfrm>
          <a:prstGeom prst="rect">
            <a:avLst/>
          </a:prstGeom>
        </p:spPr>
      </p:pic>
      <p:pic>
        <p:nvPicPr>
          <p:cNvPr id="6" name="Rect">
            <a:extLst>
              <a:ext uri="{FF2B5EF4-FFF2-40B4-BE49-F238E27FC236}">
                <a16:creationId xmlns:a16="http://schemas.microsoft.com/office/drawing/2014/main" id="{763E31ED-90B8-C473-5D0E-0124C8749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3759082" y="534153"/>
            <a:ext cx="5232518" cy="6129197"/>
          </a:xfrm>
          <a:prstGeom prst="rect">
            <a:avLst/>
          </a:prstGeom>
        </p:spPr>
      </p:pic>
      <p:pic>
        <p:nvPicPr>
          <p:cNvPr id="8" name="Rect">
            <a:extLst>
              <a:ext uri="{FF2B5EF4-FFF2-40B4-BE49-F238E27FC236}">
                <a16:creationId xmlns:a16="http://schemas.microsoft.com/office/drawing/2014/main" id="{21D7D800-80AB-E149-2077-AB30B24E85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8741002" y="2010610"/>
            <a:ext cx="766291" cy="766291"/>
          </a:xfrm>
          <a:prstGeom prst="rect">
            <a:avLst/>
          </a:prstGeom>
        </p:spPr>
      </p:pic>
      <p:pic>
        <p:nvPicPr>
          <p:cNvPr id="9" name="Rect">
            <a:extLst>
              <a:ext uri="{FF2B5EF4-FFF2-40B4-BE49-F238E27FC236}">
                <a16:creationId xmlns:a16="http://schemas.microsoft.com/office/drawing/2014/main" id="{0B02B0BE-E2FA-7711-4033-BC8F59DF75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8991600" y="3571116"/>
            <a:ext cx="766291" cy="766291"/>
          </a:xfrm>
          <a:prstGeom prst="rect">
            <a:avLst/>
          </a:prstGeom>
        </p:spPr>
      </p:pic>
      <p:pic>
        <p:nvPicPr>
          <p:cNvPr id="10" name="Rect">
            <a:extLst>
              <a:ext uri="{FF2B5EF4-FFF2-40B4-BE49-F238E27FC236}">
                <a16:creationId xmlns:a16="http://schemas.microsoft.com/office/drawing/2014/main" id="{6C013A44-22C0-C965-3C02-646CDC705B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8357857" y="5131622"/>
            <a:ext cx="766291" cy="76629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4CA0412-536B-015F-7A52-FE20281792E8}"/>
              </a:ext>
            </a:extLst>
          </p:cNvPr>
          <p:cNvSpPr txBox="1"/>
          <p:nvPr/>
        </p:nvSpPr>
        <p:spPr>
          <a:xfrm>
            <a:off x="8868906" y="731407"/>
            <a:ext cx="3179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Créer deux pages web : </a:t>
            </a:r>
            <a:r>
              <a:rPr lang="fr-FR" dirty="0"/>
              <a:t>authentification et index(tableau de bord)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31532E-9525-CAAA-AC36-927E2F14B793}"/>
              </a:ext>
            </a:extLst>
          </p:cNvPr>
          <p:cNvSpPr txBox="1"/>
          <p:nvPr/>
        </p:nvSpPr>
        <p:spPr>
          <a:xfrm>
            <a:off x="9507293" y="1799374"/>
            <a:ext cx="2809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Tableau de Bord</a:t>
            </a:r>
            <a:endParaRPr lang="fr-FR" dirty="0"/>
          </a:p>
          <a:p>
            <a:r>
              <a:rPr lang="fr-FR" dirty="0"/>
              <a:t>- Statistiques en temps réel - 6 graphiques interactifs :</a:t>
            </a:r>
          </a:p>
          <a:p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F7C89E-E0FD-A222-CB89-F72710B1F113}"/>
              </a:ext>
            </a:extLst>
          </p:cNvPr>
          <p:cNvSpPr txBox="1"/>
          <p:nvPr/>
        </p:nvSpPr>
        <p:spPr>
          <a:xfrm>
            <a:off x="9695076" y="3276701"/>
            <a:ext cx="2669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HTML5, CSS3, JavaScript </a:t>
            </a:r>
            <a:r>
              <a:rPr lang="fr-FR" dirty="0" err="1"/>
              <a:t>Vanilla</a:t>
            </a:r>
            <a:endParaRPr lang="fr-FR" dirty="0"/>
          </a:p>
          <a:p>
            <a:r>
              <a:rPr lang="fr-FR" b="1" dirty="0"/>
              <a:t>CSS Framework :</a:t>
            </a:r>
            <a:r>
              <a:rPr lang="fr-FR" dirty="0"/>
              <a:t> </a:t>
            </a:r>
          </a:p>
          <a:p>
            <a:r>
              <a:rPr lang="fr-FR" dirty="0"/>
              <a:t>Bootstrap</a:t>
            </a:r>
          </a:p>
          <a:p>
            <a:r>
              <a:rPr lang="fr-FR" b="1" dirty="0"/>
              <a:t>Bibliothèques JS  :</a:t>
            </a:r>
            <a:r>
              <a:rPr lang="fr-FR" dirty="0"/>
              <a:t>  </a:t>
            </a:r>
          </a:p>
          <a:p>
            <a:r>
              <a:rPr lang="fr-FR" dirty="0"/>
              <a:t>Chart.js,</a:t>
            </a:r>
            <a:r>
              <a:rPr lang="fr-FR" b="1" dirty="0"/>
              <a:t> </a:t>
            </a:r>
            <a:r>
              <a:rPr lang="fr-FR" dirty="0" err="1"/>
              <a:t>jsPDF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3E25A50-A656-3944-0B9B-7FF356DB1656}"/>
              </a:ext>
            </a:extLst>
          </p:cNvPr>
          <p:cNvSpPr txBox="1"/>
          <p:nvPr/>
        </p:nvSpPr>
        <p:spPr>
          <a:xfrm>
            <a:off x="9124148" y="5182488"/>
            <a:ext cx="26690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Bonus :</a:t>
            </a:r>
            <a:r>
              <a:rPr lang="fr-FR" dirty="0"/>
              <a:t>exporter csv et </a:t>
            </a:r>
            <a:r>
              <a:rPr lang="fr-FR" dirty="0" err="1"/>
              <a:t>pdf</a:t>
            </a:r>
            <a:r>
              <a:rPr lang="fr-FR" dirty="0"/>
              <a:t>, Recherche,  Filtres, Graphiques dynamiques,</a:t>
            </a:r>
          </a:p>
          <a:p>
            <a:r>
              <a:rPr lang="fr-FR" dirty="0"/>
              <a:t>pagination, traduction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05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DF1BA-A584-D060-7868-11EB8827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>
                <a:solidFill>
                  <a:schemeClr val="tx1"/>
                </a:solidFill>
              </a:rPr>
              <a:t>Démonstration – Fonctionnalités</a:t>
            </a:r>
          </a:p>
        </p:txBody>
      </p:sp>
      <p:pic>
        <p:nvPicPr>
          <p:cNvPr id="7" name="Espace réservé du contenu 6" descr="Une image contenant texte, capture d’écran, Police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87B85BB2-B70E-DE41-61F2-B68976B4E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9033" y="863600"/>
            <a:ext cx="5574610" cy="5121275"/>
          </a:xfrm>
        </p:spPr>
      </p:pic>
    </p:spTree>
    <p:extLst>
      <p:ext uri="{BB962C8B-B14F-4D97-AF65-F5344CB8AC3E}">
        <p14:creationId xmlns:p14="http://schemas.microsoft.com/office/powerpoint/2010/main" val="371883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8BFA64-E3DC-4B1A-47EB-D1276589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4333"/>
            <a:ext cx="3363542" cy="31583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spc="-100" dirty="0" err="1"/>
              <a:t>Démonstration</a:t>
            </a:r>
            <a:r>
              <a:rPr lang="en-US" b="1" spc="-100" dirty="0"/>
              <a:t> – </a:t>
            </a:r>
            <a:r>
              <a:rPr lang="en-US" b="1" spc="-100" dirty="0" err="1"/>
              <a:t>Fonctionnalités</a:t>
            </a:r>
            <a:endParaRPr lang="en-US" spc="-100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2A40D0B6-3A31-82CC-2B35-D6199ABA0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63932"/>
            <a:ext cx="2947482" cy="3498980"/>
          </a:xfrm>
        </p:spPr>
        <p:txBody>
          <a:bodyPr anchor="t">
            <a:normAutofit/>
          </a:bodyPr>
          <a:lstStyle/>
          <a:p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11" name="Espace réservé du contenu 10" descr="Une image contenant texte, capture d’écran, logiciel, Logiciel multimédia">
            <a:extLst>
              <a:ext uri="{FF2B5EF4-FFF2-40B4-BE49-F238E27FC236}">
                <a16:creationId xmlns:a16="http://schemas.microsoft.com/office/drawing/2014/main" id="{B965FB23-0813-D72E-4334-10E74B89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80" b="-1"/>
          <a:stretch>
            <a:fillRect/>
          </a:stretch>
        </p:blipFill>
        <p:spPr>
          <a:xfrm>
            <a:off x="3616461" y="160256"/>
            <a:ext cx="9119152" cy="625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7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629112-C68D-946B-B709-5627EA1B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D5B5FAA-F228-9ADD-8655-313D67CC9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52537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4165416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AA6F88-898B-C58E-FF5B-0075856F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 dirty="0" err="1"/>
              <a:t>Démonstration</a:t>
            </a:r>
            <a:r>
              <a:rPr lang="en-US" sz="5900" spc="-100" dirty="0"/>
              <a:t> tableau bord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6CF896E0-3855-3624-0DAB-38BBFD289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830" y="444076"/>
            <a:ext cx="6086389" cy="3621400"/>
          </a:xfrm>
          <a:prstGeom prst="rect">
            <a:avLst/>
          </a:prstGeom>
        </p:spPr>
      </p:pic>
      <p:pic>
        <p:nvPicPr>
          <p:cNvPr id="7" name="Image 6" descr="Une image contenant texte, capture d’écran, logiciel, Tracé&#10;&#10;Le contenu généré par l’IA peut être incorrect.">
            <a:extLst>
              <a:ext uri="{FF2B5EF4-FFF2-40B4-BE49-F238E27FC236}">
                <a16:creationId xmlns:a16="http://schemas.microsoft.com/office/drawing/2014/main" id="{58F7C264-593F-EB2A-AFA0-520575D01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401" y="444076"/>
            <a:ext cx="6086389" cy="36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5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18D264D5-8093-98D8-D91E-E42FC1414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787" y="771434"/>
            <a:ext cx="8860427" cy="527195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07C4731-E92D-E45D-8D98-6C204AF9F9D6}"/>
              </a:ext>
            </a:extLst>
          </p:cNvPr>
          <p:cNvSpPr txBox="1"/>
          <p:nvPr/>
        </p:nvSpPr>
        <p:spPr>
          <a:xfrm>
            <a:off x="7126664" y="1739244"/>
            <a:ext cx="3135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Importation des bibliothèque de </a:t>
            </a:r>
            <a:r>
              <a:rPr lang="fr-FR" dirty="0" err="1">
                <a:solidFill>
                  <a:srgbClr val="FF0000"/>
                </a:solidFill>
              </a:rPr>
              <a:t>chart,js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37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D2AD0D-6A10-06C8-4425-1017D91E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900" spc="-100"/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6FD423A-83CF-6AA9-A701-FA79A84A1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14458" y="-770771"/>
            <a:ext cx="13704333" cy="815407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078BAAC-90F6-A1A9-DF97-748FDCDEE68D}"/>
              </a:ext>
            </a:extLst>
          </p:cNvPr>
          <p:cNvSpPr txBox="1"/>
          <p:nvPr/>
        </p:nvSpPr>
        <p:spPr>
          <a:xfrm>
            <a:off x="8205033" y="3004946"/>
            <a:ext cx="38801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Importation des </a:t>
            </a:r>
            <a:r>
              <a:rPr lang="fr-FR" dirty="0" err="1">
                <a:solidFill>
                  <a:srgbClr val="FF0000"/>
                </a:solidFill>
              </a:rPr>
              <a:t>entites</a:t>
            </a:r>
            <a:r>
              <a:rPr lang="fr-FR" dirty="0">
                <a:solidFill>
                  <a:srgbClr val="FF0000"/>
                </a:solidFill>
              </a:rPr>
              <a:t> et du data du site pour l’utiliser dans les charts et les graphes</a:t>
            </a:r>
          </a:p>
        </p:txBody>
      </p:sp>
    </p:spTree>
    <p:extLst>
      <p:ext uri="{BB962C8B-B14F-4D97-AF65-F5344CB8AC3E}">
        <p14:creationId xmlns:p14="http://schemas.microsoft.com/office/powerpoint/2010/main" val="1129436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096A2-0A0F-EEA6-A30D-B2E50C77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833C73FC-C777-5A50-07A7-2C0DF539D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620" y="-98043"/>
            <a:ext cx="10510346" cy="6240518"/>
          </a:xfrm>
        </p:spPr>
      </p:pic>
    </p:spTree>
    <p:extLst>
      <p:ext uri="{BB962C8B-B14F-4D97-AF65-F5344CB8AC3E}">
        <p14:creationId xmlns:p14="http://schemas.microsoft.com/office/powerpoint/2010/main" val="272497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61CED-00B3-D4D4-A4A9-5E8FC984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69" y="4803387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900" spc="-100" dirty="0"/>
              <a:t>Le tri par </a:t>
            </a:r>
            <a:r>
              <a:rPr lang="en-US" sz="5900" spc="-100" dirty="0" err="1"/>
              <a:t>catégorie</a:t>
            </a:r>
            <a:r>
              <a:rPr lang="en-US" sz="5900" spc="-100" dirty="0"/>
              <a:t> (</a:t>
            </a:r>
            <a:r>
              <a:rPr lang="en-US" sz="5900" spc="-100" dirty="0" err="1"/>
              <a:t>exemple</a:t>
            </a:r>
            <a:r>
              <a:rPr lang="en-US" sz="5900" spc="-100" dirty="0"/>
              <a:t> </a:t>
            </a:r>
            <a:r>
              <a:rPr lang="en-US" sz="5900" spc="-100" dirty="0" err="1"/>
              <a:t>catégorie</a:t>
            </a:r>
            <a:r>
              <a:rPr lang="en-US" sz="5900" spc="-100" dirty="0"/>
              <a:t> plat principal)</a:t>
            </a:r>
          </a:p>
        </p:txBody>
      </p:sp>
      <p:pic>
        <p:nvPicPr>
          <p:cNvPr id="5" name="Espace réservé du contenu 4" descr="Une image contenant texte, capture d’écran, logiciel, Icône d’ordinateur">
            <a:extLst>
              <a:ext uri="{FF2B5EF4-FFF2-40B4-BE49-F238E27FC236}">
                <a16:creationId xmlns:a16="http://schemas.microsoft.com/office/drawing/2014/main" id="{974567D6-71B6-DF93-56C3-09A58B039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9737" y="-94394"/>
            <a:ext cx="6950894" cy="41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9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C09D8-2932-DE8E-BA11-83A7024D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252" y="4940378"/>
            <a:ext cx="10210862" cy="106569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spc="-100" dirty="0"/>
              <a:t>Le tri a </a:t>
            </a:r>
            <a:r>
              <a:rPr lang="en-US" sz="4800" spc="-100" dirty="0" err="1"/>
              <a:t>l’aide</a:t>
            </a:r>
            <a:r>
              <a:rPr lang="en-US" sz="4800" spc="-100" dirty="0"/>
              <a:t> des </a:t>
            </a:r>
            <a:r>
              <a:rPr lang="en-US" sz="4800" spc="-100" dirty="0" err="1"/>
              <a:t>fonnctions</a:t>
            </a:r>
            <a:r>
              <a:rPr lang="en-US" sz="4800" spc="-100" dirty="0"/>
              <a:t> </a:t>
            </a:r>
            <a:r>
              <a:rPr lang="en-US" sz="4800" spc="-100" dirty="0" err="1"/>
              <a:t>en</a:t>
            </a:r>
            <a:r>
              <a:rPr lang="en-US" sz="4800" spc="-100" dirty="0"/>
              <a:t> </a:t>
            </a:r>
            <a:r>
              <a:rPr lang="en-US" sz="4800" spc="-100" dirty="0" err="1"/>
              <a:t>javascript</a:t>
            </a:r>
            <a:r>
              <a:rPr lang="en-US" sz="4800" spc="-100" dirty="0"/>
              <a:t> </a:t>
            </a:r>
            <a:r>
              <a:rPr lang="en-US" sz="4800" spc="-100" dirty="0" err="1"/>
              <a:t>comme</a:t>
            </a:r>
            <a:r>
              <a:rPr lang="en-US" sz="4800" spc="-100" dirty="0"/>
              <a:t> </a:t>
            </a:r>
            <a:r>
              <a:rPr lang="en-US" sz="4800" spc="-100" dirty="0" err="1"/>
              <a:t>filterdata</a:t>
            </a:r>
            <a:r>
              <a:rPr lang="en-US" sz="4800" spc="-100" dirty="0"/>
              <a:t>(),et </a:t>
            </a:r>
            <a:r>
              <a:rPr lang="en-US" sz="4800" spc="-100" dirty="0" err="1"/>
              <a:t>sortData</a:t>
            </a:r>
            <a:r>
              <a:rPr lang="en-US" sz="4800" spc="-100" dirty="0"/>
              <a:t>()</a:t>
            </a:r>
          </a:p>
        </p:txBody>
      </p:sp>
      <p:pic>
        <p:nvPicPr>
          <p:cNvPr id="5" name="Espace réservé du contenu 4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6F1A5D83-8723-D4D4-24BD-E472E9261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783" r="1" b="34022"/>
          <a:stretch>
            <a:fillRect/>
          </a:stretch>
        </p:blipFill>
        <p:spPr>
          <a:xfrm>
            <a:off x="182212" y="101867"/>
            <a:ext cx="12758040" cy="426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5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C9C9A9-46AD-42AB-3540-6B874D04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spc="-100" dirty="0" err="1"/>
              <a:t>Récupération</a:t>
            </a:r>
            <a:r>
              <a:rPr lang="en-US" sz="4800" spc="-100" dirty="0"/>
              <a:t> des données a </a:t>
            </a:r>
            <a:r>
              <a:rPr lang="en-US" sz="4800" spc="-100" dirty="0" err="1"/>
              <a:t>l’aide</a:t>
            </a:r>
            <a:r>
              <a:rPr lang="en-US" sz="4800" spc="-100" dirty="0"/>
              <a:t> des </a:t>
            </a:r>
            <a:r>
              <a:rPr lang="en-US" sz="4800" spc="-100" dirty="0" err="1"/>
              <a:t>eventlisteners</a:t>
            </a:r>
            <a:r>
              <a:rPr lang="en-US" sz="4800" spc="-100" dirty="0"/>
              <a:t> pour </a:t>
            </a:r>
            <a:r>
              <a:rPr lang="en-US" sz="4800" spc="-100" dirty="0" err="1"/>
              <a:t>l’utiliser</a:t>
            </a:r>
            <a:r>
              <a:rPr lang="en-US" sz="4800" spc="-100" dirty="0"/>
              <a:t> dans la recherche et le </a:t>
            </a:r>
            <a:r>
              <a:rPr lang="en-US" sz="4800" spc="-100" dirty="0" err="1"/>
              <a:t>filtre</a:t>
            </a:r>
            <a:endParaRPr lang="en-US" sz="4800" spc="-100" dirty="0"/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72A96C7-B864-87B5-F733-C5F5A3B2B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733" r="1" b="23073"/>
          <a:stretch>
            <a:fillRect/>
          </a:stretch>
        </p:blipFill>
        <p:spPr>
          <a:xfrm>
            <a:off x="1069847" y="484632"/>
            <a:ext cx="10637520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19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2E5D6-E378-4614-BCBD-8663DD15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287AC3-AACF-4ADB-9F73-125E714D9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993" y="4367639"/>
            <a:ext cx="11430014" cy="18521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228DB9-E8CA-64E6-7ED9-08453455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77" y="4599160"/>
            <a:ext cx="11079804" cy="1358020"/>
          </a:xfrm>
        </p:spPr>
        <p:txBody>
          <a:bodyPr anchor="ctr"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quote-cjk-patch"/>
              </a:rPr>
              <a:t>Gestion CRUD (5 Entités)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4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90606C9-3287-7B43-D947-ED0DA3A4F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728425"/>
              </p:ext>
            </p:extLst>
          </p:nvPr>
        </p:nvGraphicFramePr>
        <p:xfrm>
          <a:off x="960120" y="786434"/>
          <a:ext cx="10271762" cy="290964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3371392">
                  <a:extLst>
                    <a:ext uri="{9D8B030D-6E8A-4147-A177-3AD203B41FA5}">
                      <a16:colId xmlns:a16="http://schemas.microsoft.com/office/drawing/2014/main" val="2942940051"/>
                    </a:ext>
                  </a:extLst>
                </a:gridCol>
                <a:gridCol w="3371392">
                  <a:extLst>
                    <a:ext uri="{9D8B030D-6E8A-4147-A177-3AD203B41FA5}">
                      <a16:colId xmlns:a16="http://schemas.microsoft.com/office/drawing/2014/main" val="143033094"/>
                    </a:ext>
                  </a:extLst>
                </a:gridCol>
                <a:gridCol w="3528978">
                  <a:extLst>
                    <a:ext uri="{9D8B030D-6E8A-4147-A177-3AD203B41FA5}">
                      <a16:colId xmlns:a16="http://schemas.microsoft.com/office/drawing/2014/main" val="2699143560"/>
                    </a:ext>
                  </a:extLst>
                </a:gridCol>
              </a:tblGrid>
              <a:tr h="4849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Entité</a:t>
                      </a:r>
                    </a:p>
                  </a:txBody>
                  <a:tcPr marL="128858" marR="132162" marT="99122" marB="99122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Fonctionnalités</a:t>
                      </a:r>
                    </a:p>
                  </a:txBody>
                  <a:tcPr marL="128858" marR="132162" marT="99122" marB="9912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Caractéristiques</a:t>
                      </a:r>
                    </a:p>
                  </a:txBody>
                  <a:tcPr marL="128858" marR="132162" marT="99122" marB="9912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29063"/>
                  </a:ext>
                </a:extLst>
              </a:tr>
              <a:tr h="4849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Plats</a:t>
                      </a:r>
                      <a:endParaRPr lang="fr-FR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8858" marR="132162" marT="99122" marB="9912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Menu complet</a:t>
                      </a:r>
                    </a:p>
                  </a:txBody>
                  <a:tcPr marL="128858" marR="13216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Catégories, prix, disponibilité</a:t>
                      </a:r>
                    </a:p>
                  </a:txBody>
                  <a:tcPr marL="128858" marR="9912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38572"/>
                  </a:ext>
                </a:extLst>
              </a:tr>
              <a:tr h="4849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Commandes</a:t>
                      </a:r>
                      <a:endParaRPr lang="fr-FR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8858" marR="132162" marT="99122" marB="9912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Suivi commandes</a:t>
                      </a:r>
                    </a:p>
                  </a:txBody>
                  <a:tcPr marL="128858" marR="132162" marT="99122" marB="9912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Statuts, paiements, détails</a:t>
                      </a:r>
                    </a:p>
                  </a:txBody>
                  <a:tcPr marL="128858" marR="99122" marT="99122" marB="9912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442724"/>
                  </a:ext>
                </a:extLst>
              </a:tr>
              <a:tr h="4849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Tables</a:t>
                      </a:r>
                      <a:endParaRPr lang="fr-FR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8858" marR="132162" marT="99122" marB="9912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Gestion salles</a:t>
                      </a:r>
                    </a:p>
                  </a:txBody>
                  <a:tcPr marL="128858" marR="13216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Types, capacité, disponibilité</a:t>
                      </a:r>
                    </a:p>
                  </a:txBody>
                  <a:tcPr marL="128858" marR="9912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862468"/>
                  </a:ext>
                </a:extLst>
              </a:tr>
              <a:tr h="4849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Réservations</a:t>
                      </a:r>
                      <a:endParaRPr lang="fr-FR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8858" marR="132162" marT="99122" marB="9912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Planning</a:t>
                      </a:r>
                    </a:p>
                  </a:txBody>
                  <a:tcPr marL="128858" marR="132162" marT="99122" marB="99122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Dates, clients, confirmation</a:t>
                      </a:r>
                    </a:p>
                  </a:txBody>
                  <a:tcPr marL="128858" marR="99122" marT="99122" marB="99122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766789"/>
                  </a:ext>
                </a:extLst>
              </a:tr>
              <a:tr h="4849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1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Employés</a:t>
                      </a:r>
                      <a:endParaRPr lang="fr-FR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8858" marR="132162" marT="99122" marB="9912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Personnel</a:t>
                      </a:r>
                    </a:p>
                  </a:txBody>
                  <a:tcPr marL="128858" marR="13216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Rôles, horaires, salaires</a:t>
                      </a:r>
                    </a:p>
                  </a:txBody>
                  <a:tcPr marL="128858" marR="99122" marT="99122" marB="99122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57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8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D5E9C4-0B12-88F1-8F3B-D162A7E7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20" y="4913011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900" spc="-100" dirty="0"/>
              <a:t>La </a:t>
            </a:r>
            <a:r>
              <a:rPr lang="en-US" sz="5900" spc="-100" dirty="0" err="1"/>
              <a:t>fonnction</a:t>
            </a:r>
            <a:r>
              <a:rPr lang="en-US" sz="5900" spc="-100" dirty="0"/>
              <a:t> </a:t>
            </a:r>
            <a:r>
              <a:rPr lang="en-US" sz="5900" spc="-100" dirty="0" err="1"/>
              <a:t>afficher</a:t>
            </a:r>
            <a:r>
              <a:rPr lang="en-US" sz="5900" spc="-100" dirty="0"/>
              <a:t>, </a:t>
            </a:r>
            <a:r>
              <a:rPr lang="en-US" sz="5900" spc="-100" dirty="0" err="1"/>
              <a:t>apres</a:t>
            </a:r>
            <a:r>
              <a:rPr lang="en-US" sz="5900" spc="-100" dirty="0"/>
              <a:t> </a:t>
            </a:r>
            <a:r>
              <a:rPr lang="en-US" sz="5900" spc="-100" dirty="0" err="1"/>
              <a:t>cliquer</a:t>
            </a:r>
            <a:r>
              <a:rPr lang="en-US" sz="5900" spc="-100" dirty="0"/>
              <a:t> sur </a:t>
            </a:r>
            <a:r>
              <a:rPr lang="en-US" sz="5900" spc="-100" dirty="0" err="1"/>
              <a:t>l’icon</a:t>
            </a:r>
            <a:r>
              <a:rPr lang="en-US" sz="5900" spc="-100" dirty="0"/>
              <a:t> la page detail plat </a:t>
            </a:r>
            <a:r>
              <a:rPr lang="en-US" sz="5900" spc="-100" dirty="0" err="1"/>
              <a:t>s’affiche</a:t>
            </a:r>
            <a:r>
              <a:rPr lang="en-US" sz="5900" spc="-100" dirty="0"/>
              <a:t> </a:t>
            </a:r>
          </a:p>
        </p:txBody>
      </p:sp>
      <p:pic>
        <p:nvPicPr>
          <p:cNvPr id="9" name="Espace réservé du contenu 8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5A5A2A7-DD12-B6D2-8659-9CAAA3353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260" y="403456"/>
            <a:ext cx="5989823" cy="3563942"/>
          </a:xfrm>
          <a:prstGeom prst="rect">
            <a:avLst/>
          </a:prstGeom>
        </p:spPr>
      </p:pic>
      <p:pic>
        <p:nvPicPr>
          <p:cNvPr id="11" name="Image 10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473679FD-D3EF-4FD8-9DFE-64B92D1BD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03455"/>
            <a:ext cx="6298418" cy="374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30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4E3B8-AA6D-3487-9CA2-53CC0AC3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B21124B-8387-4498-1562-105DC93FD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69" y="-100237"/>
            <a:ext cx="12363762" cy="7340983"/>
          </a:xfrm>
        </p:spPr>
      </p:pic>
    </p:spTree>
    <p:extLst>
      <p:ext uri="{BB962C8B-B14F-4D97-AF65-F5344CB8AC3E}">
        <p14:creationId xmlns:p14="http://schemas.microsoft.com/office/powerpoint/2010/main" val="426712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A4DDCD9-29A9-B899-66BF-27D63DB3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890" y="4878465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900" spc="-100" dirty="0" err="1"/>
              <a:t>Fonction</a:t>
            </a:r>
            <a:r>
              <a:rPr lang="en-US" sz="5900" spc="-100" dirty="0"/>
              <a:t> </a:t>
            </a:r>
            <a:r>
              <a:rPr lang="en-US" sz="5900" spc="-100" dirty="0" err="1"/>
              <a:t>ajouter:onclique</a:t>
            </a:r>
            <a:r>
              <a:rPr lang="en-US" sz="5900" spc="-100" dirty="0"/>
              <a:t> sur le bouton </a:t>
            </a:r>
            <a:r>
              <a:rPr lang="en-US" sz="5900" spc="-100" dirty="0" err="1"/>
              <a:t>ajouter</a:t>
            </a:r>
            <a:r>
              <a:rPr lang="en-US" sz="5900" spc="-100" dirty="0"/>
              <a:t> </a:t>
            </a:r>
            <a:r>
              <a:rPr lang="en-US" sz="5900" spc="-100" dirty="0" err="1"/>
              <a:t>apres</a:t>
            </a:r>
            <a:r>
              <a:rPr lang="en-US" sz="5900" spc="-100" dirty="0"/>
              <a:t> nouvelle page </a:t>
            </a:r>
            <a:r>
              <a:rPr lang="en-US" sz="5900" spc="-100" dirty="0" err="1"/>
              <a:t>s’ouvre</a:t>
            </a:r>
            <a:endParaRPr lang="en-US" sz="5900" spc="-100" dirty="0"/>
          </a:p>
        </p:txBody>
      </p:sp>
      <p:pic>
        <p:nvPicPr>
          <p:cNvPr id="13" name="Espace réservé du contenu 1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290F3BEF-E41F-4BAD-1864-EE130F9FB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399" y="-99586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4117257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8B898-075C-9466-0243-EB366E30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remplis les informations</a:t>
            </a:r>
          </a:p>
        </p:txBody>
      </p:sp>
      <p:pic>
        <p:nvPicPr>
          <p:cNvPr id="8" name="Espace réservé du contenu 7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AFA2D87C-2000-8B05-A475-9D25D3B72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52537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1202362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9B2D0-9698-3D73-9DD2-435CE48A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nouveau plat est ajoutée avec succès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8DAF59D1-CBF6-382D-9F94-5D998C8F4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5765" y="835238"/>
            <a:ext cx="7883690" cy="4680941"/>
          </a:xfrm>
        </p:spPr>
      </p:pic>
    </p:spTree>
    <p:extLst>
      <p:ext uri="{BB962C8B-B14F-4D97-AF65-F5344CB8AC3E}">
        <p14:creationId xmlns:p14="http://schemas.microsoft.com/office/powerpoint/2010/main" val="165920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capture d’écran, texte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1959B143-B791-EA4E-D00B-3B50CCAB3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4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80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53D9A-8CF4-BE64-0068-82D87944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Sauvegarde des données (ajouter)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5D3D2465-8E87-8345-226D-C3DC6E8D8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00573" y="136694"/>
            <a:ext cx="9973386" cy="5921698"/>
          </a:xfrm>
        </p:spPr>
      </p:pic>
    </p:spTree>
    <p:extLst>
      <p:ext uri="{BB962C8B-B14F-4D97-AF65-F5344CB8AC3E}">
        <p14:creationId xmlns:p14="http://schemas.microsoft.com/office/powerpoint/2010/main" val="4203371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E41820-2570-8070-5908-35A4ABB2E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 modifier (après avoir cliquer sur </a:t>
            </a:r>
            <a:r>
              <a:rPr lang="fr-FR" dirty="0" err="1"/>
              <a:t>l’icon</a:t>
            </a:r>
            <a:r>
              <a:rPr lang="fr-FR" dirty="0"/>
              <a:t> une nouvel page de modifier s’affiche)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6F550E4-4396-A592-F3C5-E1C905A6C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9008" y="788275"/>
            <a:ext cx="8602992" cy="5108027"/>
          </a:xfrm>
        </p:spPr>
      </p:pic>
    </p:spTree>
    <p:extLst>
      <p:ext uri="{BB962C8B-B14F-4D97-AF65-F5344CB8AC3E}">
        <p14:creationId xmlns:p14="http://schemas.microsoft.com/office/powerpoint/2010/main" val="822978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BC307E-FB6F-8D98-74FA-99F4146F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 modifier(après remplir les information a modifier le nouveau nom du plat est mis a jour)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CB20FF6-549B-2CA8-CD75-BBE6C25A0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1576" y="728173"/>
            <a:ext cx="8415742" cy="4996847"/>
          </a:xfrm>
        </p:spPr>
      </p:pic>
    </p:spTree>
    <p:extLst>
      <p:ext uri="{BB962C8B-B14F-4D97-AF65-F5344CB8AC3E}">
        <p14:creationId xmlns:p14="http://schemas.microsoft.com/office/powerpoint/2010/main" val="3098455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ADF41A-B940-513F-4EE2-FE6460C33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68" y="5293732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900" spc="-100" dirty="0" err="1"/>
              <a:t>Partie</a:t>
            </a:r>
            <a:r>
              <a:rPr lang="en-US" sz="5900" spc="-100" dirty="0"/>
              <a:t> de code de function modifier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5F49B6C8-5601-07B6-F591-CEA6826D9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337" y="0"/>
            <a:ext cx="10211005" cy="55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9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2D40FA-7A5B-6046-92CC-09E51232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8" y="1123837"/>
            <a:ext cx="3110391" cy="4601183"/>
          </a:xfrm>
        </p:spPr>
        <p:txBody>
          <a:bodyPr>
            <a:normAutofit fontScale="90000"/>
          </a:bodyPr>
          <a:lstStyle/>
          <a:p>
            <a:r>
              <a:rPr lang="fr-FR" dirty="0"/>
              <a:t>La fonction supprimer(</a:t>
            </a:r>
            <a:r>
              <a:rPr lang="fr-FR" dirty="0" err="1"/>
              <a:t>apprés</a:t>
            </a:r>
            <a:r>
              <a:rPr lang="fr-FR" dirty="0"/>
              <a:t> avoir cliquer sur </a:t>
            </a:r>
            <a:r>
              <a:rPr lang="fr-FR" dirty="0" err="1"/>
              <a:t>l’icon</a:t>
            </a:r>
            <a:r>
              <a:rPr lang="fr-FR" dirty="0"/>
              <a:t> supprimer un pop-up s’affiche après confirmer le plat est supprimer avec </a:t>
            </a:r>
            <a:r>
              <a:rPr lang="fr-FR" dirty="0" err="1"/>
              <a:t>succés</a:t>
            </a:r>
            <a:endParaRPr lang="fr-FR" dirty="0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B27B5F4-F1FB-515F-6956-9E1E2474A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52537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3940989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2685F-4414-348C-6917-A838145D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F4ED79B-3700-FED4-ABEA-145F4D3D0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335" y="1252536"/>
            <a:ext cx="7532603" cy="4472483"/>
          </a:xfrm>
        </p:spPr>
      </p:pic>
    </p:spTree>
    <p:extLst>
      <p:ext uri="{BB962C8B-B14F-4D97-AF65-F5344CB8AC3E}">
        <p14:creationId xmlns:p14="http://schemas.microsoft.com/office/powerpoint/2010/main" val="1488470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DFE980-D3FD-6E70-5942-43DD9F27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6CCD0DED-8D09-B1D4-706F-0F2A7DECF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4577" y="994754"/>
            <a:ext cx="7749361" cy="4601183"/>
          </a:xfrm>
        </p:spPr>
      </p:pic>
    </p:spTree>
    <p:extLst>
      <p:ext uri="{BB962C8B-B14F-4D97-AF65-F5344CB8AC3E}">
        <p14:creationId xmlns:p14="http://schemas.microsoft.com/office/powerpoint/2010/main" val="1299650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6CC716-5F80-3775-296F-8D62E875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3" y="4318754"/>
            <a:ext cx="10468561" cy="23036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3100" b="1" dirty="0"/>
              <a:t> N,B: t('</a:t>
            </a:r>
            <a:r>
              <a:rPr lang="fr-FR" sz="3100" b="1" dirty="0" err="1"/>
              <a:t>crud.deleteConfirm</a:t>
            </a:r>
            <a:r>
              <a:rPr lang="fr-FR" sz="3100" b="1" dirty="0"/>
              <a:t>') ?</a:t>
            </a:r>
            <a:br>
              <a:rPr lang="fr-FR" sz="3100" b="1" dirty="0"/>
            </a:br>
            <a:r>
              <a:rPr lang="fr-FR" sz="3100" b="1" dirty="0"/>
              <a:t>t(‘</a:t>
            </a:r>
            <a:r>
              <a:rPr lang="fr-FR" sz="3100" b="1" dirty="0" err="1"/>
              <a:t>crud,deleteConfirm</a:t>
            </a:r>
            <a:r>
              <a:rPr lang="fr-FR" sz="3100" b="1" dirty="0"/>
              <a:t>’)C'est un système d'internationalisation  de la bibliothèque (i18n) pour la </a:t>
            </a:r>
            <a:r>
              <a:rPr lang="fr-FR" sz="3100" b="1" dirty="0" err="1"/>
              <a:t>géneration</a:t>
            </a:r>
            <a:r>
              <a:rPr lang="fr-FR" sz="3100" b="1" dirty="0"/>
              <a:t> et la  traduction automatique du message de la </a:t>
            </a:r>
            <a:r>
              <a:rPr lang="fr-FR" sz="3100" b="1" dirty="0" err="1"/>
              <a:t>sûppression</a:t>
            </a:r>
            <a:br>
              <a:rPr lang="fr-FR" sz="3100" b="1" dirty="0"/>
            </a:br>
            <a:endParaRPr lang="en-US" sz="3100" spc="-100" dirty="0"/>
          </a:p>
        </p:txBody>
      </p:sp>
      <p:pic>
        <p:nvPicPr>
          <p:cNvPr id="5" name="Espace réservé du contenu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8E05AFA-45DA-E346-8F47-EF257EC86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94" b="-1"/>
          <a:stretch>
            <a:fillRect/>
          </a:stretch>
        </p:blipFill>
        <p:spPr>
          <a:xfrm>
            <a:off x="1069847" y="484632"/>
            <a:ext cx="10637520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05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343F68-4ABC-6EB2-DCA1-BBB2143D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fonctions </a:t>
            </a:r>
            <a:r>
              <a:rPr lang="fr-FR" dirty="0" err="1"/>
              <a:t>crud</a:t>
            </a:r>
            <a:r>
              <a:rPr lang="fr-FR" dirty="0"/>
              <a:t> utiliser dans le code source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6D2C5CC-FC62-CE48-A353-9ACEDE02C7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340405"/>
              </p:ext>
            </p:extLst>
          </p:nvPr>
        </p:nvGraphicFramePr>
        <p:xfrm>
          <a:off x="3386667" y="1295400"/>
          <a:ext cx="8288868" cy="4429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217">
                  <a:extLst>
                    <a:ext uri="{9D8B030D-6E8A-4147-A177-3AD203B41FA5}">
                      <a16:colId xmlns:a16="http://schemas.microsoft.com/office/drawing/2014/main" val="995130348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963506844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2539980818"/>
                    </a:ext>
                  </a:extLst>
                </a:gridCol>
                <a:gridCol w="2072217">
                  <a:extLst>
                    <a:ext uri="{9D8B030D-6E8A-4147-A177-3AD203B41FA5}">
                      <a16:colId xmlns:a16="http://schemas.microsoft.com/office/drawing/2014/main" val="1026136498"/>
                    </a:ext>
                  </a:extLst>
                </a:gridCol>
              </a:tblGrid>
              <a:tr h="54383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quote-cjk-patch"/>
                        </a:rPr>
                        <a:t>Opération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Fonction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Icone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quote-cjk-patch"/>
                        </a:rPr>
                        <a:t>Action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23552100"/>
                  </a:ext>
                </a:extLst>
              </a:tr>
              <a:tr h="11139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quote-cjk-patch"/>
                        </a:rPr>
                        <a:t>C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reate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fr-FR" b="0">
                          <a:effectLst/>
                          <a:latin typeface="Menlo"/>
                        </a:rPr>
                        <a:t>showAddPlatModal()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 → </a:t>
                      </a:r>
                      <a:r>
                        <a:rPr lang="fr-FR" b="0">
                          <a:effectLst/>
                          <a:latin typeface="Menlo"/>
                        </a:rPr>
                        <a:t>savePlat()</a:t>
                      </a:r>
                      <a:endParaRPr lang="fr-FR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➕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Ajouter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57992847"/>
                  </a:ext>
                </a:extLst>
              </a:tr>
              <a:tr h="11139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quote-cjk-patch"/>
                        </a:rPr>
                        <a:t>R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ead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fr-FR" b="0">
                          <a:effectLst/>
                          <a:latin typeface="Menlo"/>
                        </a:rPr>
                        <a:t>renderPlatsPage()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 → </a:t>
                      </a:r>
                      <a:r>
                        <a:rPr lang="fr-FR" b="0">
                          <a:effectLst/>
                          <a:latin typeface="Menlo"/>
                        </a:rPr>
                        <a:t>viewPlatDetails()</a:t>
                      </a:r>
                      <a:endParaRPr lang="fr-FR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👁️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quote-cjk-patch"/>
                        </a:rPr>
                        <a:t>Consulter/ Afficher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67712765"/>
                  </a:ext>
                </a:extLst>
              </a:tr>
              <a:tr h="11139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quote-cjk-patch"/>
                        </a:rPr>
                        <a:t>U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pdate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fr-FR" b="0" dirty="0" err="1">
                          <a:effectLst/>
                          <a:latin typeface="Menlo"/>
                        </a:rPr>
                        <a:t>showEditPlatModal</a:t>
                      </a:r>
                      <a:r>
                        <a:rPr lang="fr-FR" b="0" dirty="0">
                          <a:effectLst/>
                          <a:latin typeface="Menlo"/>
                        </a:rPr>
                        <a:t>()</a:t>
                      </a:r>
                      <a:r>
                        <a:rPr lang="fr-FR" b="0" dirty="0">
                          <a:effectLst/>
                          <a:latin typeface="quote-cjk-patch"/>
                        </a:rPr>
                        <a:t>   →  </a:t>
                      </a:r>
                      <a:r>
                        <a:rPr lang="fr-FR" b="0" dirty="0" err="1">
                          <a:effectLst/>
                          <a:latin typeface="Menlo"/>
                        </a:rPr>
                        <a:t>savePlat</a:t>
                      </a:r>
                      <a:r>
                        <a:rPr lang="fr-FR" b="0" dirty="0">
                          <a:effectLst/>
                          <a:latin typeface="Menlo"/>
                        </a:rPr>
                        <a:t>()</a:t>
                      </a:r>
                      <a:endParaRPr lang="fr-FR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✏️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Modifier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47623711"/>
                  </a:ext>
                </a:extLst>
              </a:tr>
              <a:tr h="5438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1">
                          <a:effectLst/>
                          <a:latin typeface="quote-cjk-patch"/>
                        </a:rPr>
                        <a:t>D</a:t>
                      </a:r>
                      <a:r>
                        <a:rPr lang="fr-FR" b="0">
                          <a:effectLst/>
                          <a:latin typeface="quote-cjk-patch"/>
                        </a:rPr>
                        <a:t>elete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fr-FR" b="0">
                          <a:effectLst/>
                          <a:latin typeface="Menlo"/>
                        </a:rPr>
                        <a:t>deletePlat()</a:t>
                      </a:r>
                      <a:endParaRPr lang="fr-FR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>
                          <a:effectLst/>
                          <a:latin typeface="quote-cjk-patch"/>
                        </a:rPr>
                        <a:t>🗑️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b="0" dirty="0">
                          <a:effectLst/>
                          <a:latin typeface="quote-cjk-patch"/>
                        </a:rPr>
                        <a:t>Supprimer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08524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14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27050-E1D7-4CC1-6359-32660A0C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pagination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4B66E75E-62FC-703C-03E3-C9EA918CA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52537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4271933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B95D2-7478-9DF1-AFEE-79C5618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logiciel, Icône d’ordinateur">
            <a:extLst>
              <a:ext uri="{FF2B5EF4-FFF2-40B4-BE49-F238E27FC236}">
                <a16:creationId xmlns:a16="http://schemas.microsoft.com/office/drawing/2014/main" id="{2E3B0766-F072-9150-E665-D98CF3ADB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9633" y="822419"/>
            <a:ext cx="8257012" cy="4902601"/>
          </a:xfrm>
        </p:spPr>
      </p:pic>
    </p:spTree>
    <p:extLst>
      <p:ext uri="{BB962C8B-B14F-4D97-AF65-F5344CB8AC3E}">
        <p14:creationId xmlns:p14="http://schemas.microsoft.com/office/powerpoint/2010/main" val="2213103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798579-FB41-B59D-5155-92531E98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82A111D-B670-EF2C-8C6A-876F15FA1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95435"/>
            <a:ext cx="10539763" cy="6257985"/>
          </a:xfrm>
        </p:spPr>
      </p:pic>
    </p:spTree>
    <p:extLst>
      <p:ext uri="{BB962C8B-B14F-4D97-AF65-F5344CB8AC3E}">
        <p14:creationId xmlns:p14="http://schemas.microsoft.com/office/powerpoint/2010/main" val="3745831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3875682-0790-427D-9A23-4B7265F0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E4AAE-4785-4EA7-95DB-45200F5B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76E957-F986-F369-EFBF-B9AF32AD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69" y="4913011"/>
            <a:ext cx="10210862" cy="106569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spc="-100" dirty="0" err="1"/>
              <a:t>Apres</a:t>
            </a:r>
            <a:r>
              <a:rPr lang="en-US" sz="4800" spc="-100" dirty="0"/>
              <a:t> </a:t>
            </a:r>
            <a:r>
              <a:rPr lang="en-US" sz="4800" spc="-100" dirty="0" err="1"/>
              <a:t>cliquer</a:t>
            </a:r>
            <a:r>
              <a:rPr lang="en-US" sz="4800" spc="-100" dirty="0"/>
              <a:t> sur le bouton exporter csv le </a:t>
            </a:r>
            <a:r>
              <a:rPr lang="en-US" sz="4800" spc="-100" dirty="0" err="1"/>
              <a:t>teléchargement</a:t>
            </a:r>
            <a:r>
              <a:rPr lang="en-US" sz="4800" spc="-100" dirty="0"/>
              <a:t> du </a:t>
            </a:r>
            <a:r>
              <a:rPr lang="en-US" sz="4800" spc="-100" dirty="0" err="1"/>
              <a:t>fichier,csv</a:t>
            </a:r>
            <a:r>
              <a:rPr lang="en-US" sz="4800" spc="-100" dirty="0"/>
              <a:t> se lance</a:t>
            </a:r>
          </a:p>
        </p:txBody>
      </p:sp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192802B-79AD-D6D4-CB55-6BC9A8C9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0" r="10568" b="-3"/>
          <a:stretch>
            <a:fillRect/>
          </a:stretch>
        </p:blipFill>
        <p:spPr>
          <a:xfrm>
            <a:off x="6081398" y="0"/>
            <a:ext cx="6110601" cy="4151012"/>
          </a:xfrm>
          <a:prstGeom prst="rect">
            <a:avLst/>
          </a:prstGeom>
        </p:spPr>
      </p:pic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3F4A06AF-833B-33F9-29AA-F115CF696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939" r="6464" b="-2"/>
          <a:stretch>
            <a:fillRect/>
          </a:stretch>
        </p:blipFill>
        <p:spPr>
          <a:xfrm>
            <a:off x="-1" y="0"/>
            <a:ext cx="6077817" cy="412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26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115F77-2FAE-4CA7-9A7F-10D5F2C8F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D4C046-A04C-46CC-AFA3-6B0621F62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9F6778-A6EF-8B1A-48F6-33A66E31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900" spc="-100" dirty="0" err="1"/>
              <a:t>Voici</a:t>
            </a:r>
            <a:r>
              <a:rPr lang="en-US" sz="5900" spc="-100" dirty="0"/>
              <a:t> le </a:t>
            </a:r>
            <a:r>
              <a:rPr lang="en-US" sz="5900" spc="-100" dirty="0" err="1"/>
              <a:t>fichier</a:t>
            </a:r>
            <a:r>
              <a:rPr lang="en-US" sz="5900" spc="-100" dirty="0"/>
              <a:t> excel avec les données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ED558509-E8C3-1E66-8048-3D965FF1C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366" r="1" b="31440"/>
          <a:stretch>
            <a:fillRect/>
          </a:stretch>
        </p:blipFill>
        <p:spPr>
          <a:xfrm>
            <a:off x="1069847" y="484632"/>
            <a:ext cx="10637520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55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875682-0790-427D-9A23-4B7265F0F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DE4AAE-4785-4EA7-95DB-45200F5B8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E8BF1F-CE61-45C5-92AC-552D23176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912379-6C48-6CBA-B020-C06918E7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16553"/>
            <a:ext cx="10210862" cy="106569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spc="-100" dirty="0" err="1"/>
              <a:t>Apres</a:t>
            </a:r>
            <a:r>
              <a:rPr lang="en-US" sz="4400" spc="-100" dirty="0"/>
              <a:t> </a:t>
            </a:r>
            <a:r>
              <a:rPr lang="en-US" sz="4400" spc="-100" dirty="0" err="1"/>
              <a:t>cliquer</a:t>
            </a:r>
            <a:r>
              <a:rPr lang="en-US" sz="4400" spc="-100" dirty="0"/>
              <a:t> sur le bouton exporter pdf, le </a:t>
            </a:r>
            <a:r>
              <a:rPr lang="en-US" sz="4400" spc="-100" dirty="0" err="1"/>
              <a:t>teléchargement</a:t>
            </a:r>
            <a:r>
              <a:rPr lang="en-US" sz="4400" spc="-100" dirty="0"/>
              <a:t> du </a:t>
            </a:r>
            <a:r>
              <a:rPr lang="en-US" sz="4400" spc="-100" dirty="0" err="1"/>
              <a:t>fichier</a:t>
            </a:r>
            <a:r>
              <a:rPr lang="en-US" sz="4400" spc="-100" dirty="0"/>
              <a:t> pdf se lance</a:t>
            </a:r>
          </a:p>
        </p:txBody>
      </p:sp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94533F49-3352-095F-8996-D5515E00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09" b="-3"/>
          <a:stretch>
            <a:fillRect/>
          </a:stretch>
        </p:blipFill>
        <p:spPr>
          <a:xfrm>
            <a:off x="1069848" y="470168"/>
            <a:ext cx="5236194" cy="3557016"/>
          </a:xfrm>
          <a:prstGeom prst="rect">
            <a:avLst/>
          </a:prstGeom>
        </p:spPr>
      </p:pic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BE88CF7D-41E8-E20B-1095-A75043AFF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277" r="9126" b="-2"/>
          <a:stretch>
            <a:fillRect/>
          </a:stretch>
        </p:blipFill>
        <p:spPr>
          <a:xfrm>
            <a:off x="6466908" y="470174"/>
            <a:ext cx="5236194" cy="35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76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BCCFC-2492-E479-DECA-AFD3D10A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0" dirty="0" err="1"/>
              <a:t>Voici</a:t>
            </a:r>
            <a:r>
              <a:rPr lang="en-US" spc="-100" dirty="0"/>
              <a:t> le </a:t>
            </a:r>
            <a:r>
              <a:rPr lang="en-US" spc="-100" dirty="0" err="1"/>
              <a:t>fichier</a:t>
            </a:r>
            <a:r>
              <a:rPr lang="en-US" spc="-100" dirty="0"/>
              <a:t> pdf avec les données</a:t>
            </a:r>
            <a:endParaRPr lang="fr-FR" dirty="0"/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02A1B035-AEB0-E9DC-BD50-D85A0F2DA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2894" y="409902"/>
            <a:ext cx="8549889" cy="5315118"/>
          </a:xfrm>
        </p:spPr>
      </p:pic>
    </p:spTree>
    <p:extLst>
      <p:ext uri="{BB962C8B-B14F-4D97-AF65-F5344CB8AC3E}">
        <p14:creationId xmlns:p14="http://schemas.microsoft.com/office/powerpoint/2010/main" val="2041919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22E2FC-E34C-F964-F80F-3D52B8C3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374C71E-9BAE-DFF4-5BAE-7570770C8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489842"/>
            <a:ext cx="8700024" cy="4601183"/>
          </a:xfrm>
        </p:spPr>
      </p:pic>
    </p:spTree>
    <p:extLst>
      <p:ext uri="{BB962C8B-B14F-4D97-AF65-F5344CB8AC3E}">
        <p14:creationId xmlns:p14="http://schemas.microsoft.com/office/powerpoint/2010/main" val="181162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0700F-7E00-4D72-6357-57D9A85B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l’aide du bibliothèque </a:t>
            </a:r>
            <a:r>
              <a:rPr lang="fr-FR" dirty="0" err="1"/>
              <a:t>jsPDF</a:t>
            </a:r>
            <a:r>
              <a:rPr lang="fr-FR" dirty="0"/>
              <a:t> et des fonctions comme  </a:t>
            </a:r>
            <a:r>
              <a:rPr lang="fr-FR" sz="3200" dirty="0" err="1"/>
              <a:t>exportTOCSV</a:t>
            </a:r>
            <a:r>
              <a:rPr lang="fr-FR" sz="3200" dirty="0"/>
              <a:t>();</a:t>
            </a:r>
          </a:p>
        </p:txBody>
      </p:sp>
      <p:pic>
        <p:nvPicPr>
          <p:cNvPr id="5" name="Espace réservé du contenu 4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97540F0-6D11-8C33-5078-EB8C300C0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4580" y="0"/>
            <a:ext cx="11382151" cy="6758152"/>
          </a:xfrm>
        </p:spPr>
      </p:pic>
    </p:spTree>
    <p:extLst>
      <p:ext uri="{BB962C8B-B14F-4D97-AF65-F5344CB8AC3E}">
        <p14:creationId xmlns:p14="http://schemas.microsoft.com/office/powerpoint/2010/main" val="3139417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0C5B6-D11E-B300-282A-7BBC1051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après choisir la langue voici La traduction du page web,</a:t>
            </a:r>
          </a:p>
        </p:txBody>
      </p:sp>
      <p:pic>
        <p:nvPicPr>
          <p:cNvPr id="13" name="Espace réservé du contenu 1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351D368-E925-6D3C-7A97-AF5E16A56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52537"/>
            <a:ext cx="7315200" cy="4343400"/>
          </a:xfrm>
        </p:spPr>
      </p:pic>
    </p:spTree>
    <p:extLst>
      <p:ext uri="{BB962C8B-B14F-4D97-AF65-F5344CB8AC3E}">
        <p14:creationId xmlns:p14="http://schemas.microsoft.com/office/powerpoint/2010/main" val="2164838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1502E-CB95-77BB-F0A8-384E94F7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traduction en arabe</a:t>
            </a:r>
          </a:p>
        </p:txBody>
      </p:sp>
      <p:pic>
        <p:nvPicPr>
          <p:cNvPr id="5" name="Espace réservé du contenu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F72A900-27F2-A3A8-85AA-2AC50D7D5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6522" y="994754"/>
            <a:ext cx="7749361" cy="4601183"/>
          </a:xfrm>
        </p:spPr>
      </p:pic>
    </p:spTree>
    <p:extLst>
      <p:ext uri="{BB962C8B-B14F-4D97-AF65-F5344CB8AC3E}">
        <p14:creationId xmlns:p14="http://schemas.microsoft.com/office/powerpoint/2010/main" val="39958123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77111-82DB-F781-9067-E9326AE0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traduction en anglais</a:t>
            </a:r>
          </a:p>
        </p:txBody>
      </p:sp>
      <p:pic>
        <p:nvPicPr>
          <p:cNvPr id="9" name="Espace réservé du contenu 8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7F46F06-982C-299F-D264-3F957B8E0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0908" y="865569"/>
            <a:ext cx="7843023" cy="4656795"/>
          </a:xfrm>
        </p:spPr>
      </p:pic>
    </p:spTree>
    <p:extLst>
      <p:ext uri="{BB962C8B-B14F-4D97-AF65-F5344CB8AC3E}">
        <p14:creationId xmlns:p14="http://schemas.microsoft.com/office/powerpoint/2010/main" val="36127579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D04118-B452-3E26-73D6-D6DF0E48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bibliothèque de traduction i18n</a:t>
            </a:r>
          </a:p>
        </p:txBody>
      </p:sp>
      <p:pic>
        <p:nvPicPr>
          <p:cNvPr id="5" name="Espace réservé du contenu 4" descr="Une image contenant capture d’écran, texte, affichage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88C37698-BCF1-57EF-DA28-E3DBB15EB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105" y="188530"/>
            <a:ext cx="10915268" cy="6480940"/>
          </a:xfrm>
        </p:spPr>
      </p:pic>
    </p:spTree>
    <p:extLst>
      <p:ext uri="{BB962C8B-B14F-4D97-AF65-F5344CB8AC3E}">
        <p14:creationId xmlns:p14="http://schemas.microsoft.com/office/powerpoint/2010/main" val="12457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E7FF9-1FC2-0055-B87F-8DB6CA90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Voici le lien enligne du site web hébergé par 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958A1E-7162-7BA9-8DB0-E430E8917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u="sng" dirty="0">
                <a:hlinkClick r:id="rId2"/>
              </a:rPr>
              <a:t>https://ayoubglory.github.io/projet-web/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08302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E752F-BE2C-86AE-7BAA-B3BF96A7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Conclusion</a:t>
            </a:r>
            <a:br>
              <a:rPr lang="en-US" sz="36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63870C-AF83-6E51-4516-4448597E4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109" y="376864"/>
            <a:ext cx="7315200" cy="5348156"/>
          </a:xfrm>
        </p:spPr>
        <p:txBody>
          <a:bodyPr>
            <a:normAutofit lnSpcReduction="10000"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Ce projet m'a permis de consolider mes compétences en développement web frontend tout en découvrant l'importance d’usage des </a:t>
            </a:r>
            <a:r>
              <a:rPr lang="fr-FR" b="1" dirty="0" err="1">
                <a:solidFill>
                  <a:schemeClr val="tx1"/>
                </a:solidFill>
              </a:rPr>
              <a:t>bibliothéque</a:t>
            </a:r>
            <a:r>
              <a:rPr lang="fr-FR" b="1" dirty="0">
                <a:solidFill>
                  <a:schemeClr val="tx1"/>
                </a:solidFill>
              </a:rPr>
              <a:t>. J'ai notamment appris à :</a:t>
            </a:r>
          </a:p>
          <a:p>
            <a:r>
              <a:rPr lang="fr-FR" b="1" dirty="0">
                <a:solidFill>
                  <a:schemeClr val="tx1"/>
                </a:solidFill>
              </a:rPr>
              <a:t>Maîtriser des bibliothèques modernes (Bootstrap, Chart.js, </a:t>
            </a:r>
            <a:r>
              <a:rPr lang="fr-FR" b="1" dirty="0" err="1">
                <a:solidFill>
                  <a:schemeClr val="tx1"/>
                </a:solidFill>
              </a:rPr>
              <a:t>jsPDF</a:t>
            </a:r>
            <a:r>
              <a:rPr lang="fr-FR" b="1" dirty="0">
                <a:solidFill>
                  <a:schemeClr val="tx1"/>
                </a:solidFill>
              </a:rPr>
              <a:t>) malgré leur courbe d'apprentissage initiale</a:t>
            </a:r>
          </a:p>
          <a:p>
            <a:r>
              <a:rPr lang="fr-FR" b="1" dirty="0">
                <a:solidFill>
                  <a:schemeClr val="tx1"/>
                </a:solidFill>
              </a:rPr>
              <a:t>Gérer un projet complet du design à la mise en production</a:t>
            </a:r>
          </a:p>
          <a:p>
            <a:r>
              <a:rPr lang="fr-FR" b="1" dirty="0">
                <a:solidFill>
                  <a:schemeClr val="tx1"/>
                </a:solidFill>
              </a:rPr>
              <a:t>Résoudre des problèmes complexes sans dépendre de </a:t>
            </a:r>
            <a:r>
              <a:rPr lang="fr-FR" b="1" dirty="0" err="1">
                <a:solidFill>
                  <a:schemeClr val="tx1"/>
                </a:solidFill>
              </a:rPr>
              <a:t>frameworks</a:t>
            </a:r>
            <a:r>
              <a:rPr lang="fr-FR" b="1" dirty="0">
                <a:solidFill>
                  <a:schemeClr val="tx1"/>
                </a:solidFill>
              </a:rPr>
              <a:t> lourds</a:t>
            </a:r>
          </a:p>
          <a:p>
            <a:r>
              <a:rPr lang="fr-FR" b="1" dirty="0">
                <a:solidFill>
                  <a:schemeClr val="tx1"/>
                </a:solidFill>
              </a:rPr>
              <a:t>J’ai démontré qu'avec du JavaScript </a:t>
            </a:r>
            <a:r>
              <a:rPr lang="fr-FR" b="1" dirty="0" err="1">
                <a:solidFill>
                  <a:schemeClr val="tx1"/>
                </a:solidFill>
              </a:rPr>
              <a:t>Vanilla</a:t>
            </a:r>
            <a:r>
              <a:rPr lang="fr-FR" b="1" dirty="0">
                <a:solidFill>
                  <a:schemeClr val="tx1"/>
                </a:solidFill>
              </a:rPr>
              <a:t> et une architecture solide, on peut créer une application professionnelle complète sans </a:t>
            </a:r>
            <a:r>
              <a:rPr lang="fr-FR" b="1" dirty="0" err="1">
                <a:solidFill>
                  <a:schemeClr val="tx1"/>
                </a:solidFill>
              </a:rPr>
              <a:t>frameworks</a:t>
            </a:r>
            <a:r>
              <a:rPr lang="fr-FR" b="1" dirty="0">
                <a:solidFill>
                  <a:schemeClr val="tx1"/>
                </a:solidFill>
              </a:rPr>
              <a:t>.</a:t>
            </a:r>
          </a:p>
          <a:p>
            <a:r>
              <a:rPr lang="fr-FR" b="1" dirty="0">
                <a:solidFill>
                  <a:schemeClr val="tx1"/>
                </a:solidFill>
              </a:rPr>
              <a:t> Les Réalisations :</a:t>
            </a:r>
          </a:p>
          <a:p>
            <a:r>
              <a:rPr lang="fr-FR" b="1" dirty="0">
                <a:solidFill>
                  <a:schemeClr val="tx1"/>
                </a:solidFill>
              </a:rPr>
              <a:t> Authentification </a:t>
            </a:r>
            <a:r>
              <a:rPr lang="fr-FR" b="1" dirty="0" err="1">
                <a:solidFill>
                  <a:schemeClr val="tx1"/>
                </a:solidFill>
              </a:rPr>
              <a:t>sécurisée,Dashboard</a:t>
            </a:r>
            <a:r>
              <a:rPr lang="fr-FR" b="1" dirty="0">
                <a:solidFill>
                  <a:schemeClr val="tx1"/>
                </a:solidFill>
              </a:rPr>
              <a:t> avec 6 graphiques interactifs ,5 entités CRUD complètes (Plats, Commandes, Tables, Réservations, Employés), Internationalisation FR/EN/AR, Exports CSV et PDF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6976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BD918-43E1-280B-53A2-18FC83C8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86EF5E-BAA5-A1B9-8669-DBB0860A4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400" b="1" dirty="0">
                <a:solidFill>
                  <a:schemeClr val="tx1"/>
                </a:solidFill>
              </a:rPr>
              <a:t>Merci pour votre attention!</a:t>
            </a:r>
          </a:p>
        </p:txBody>
      </p:sp>
    </p:spTree>
    <p:extLst>
      <p:ext uri="{BB962C8B-B14F-4D97-AF65-F5344CB8AC3E}">
        <p14:creationId xmlns:p14="http://schemas.microsoft.com/office/powerpoint/2010/main" val="3036723286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513</TotalTime>
  <Words>869</Words>
  <Application>Microsoft Office PowerPoint</Application>
  <PresentationFormat>Grand écran</PresentationFormat>
  <Paragraphs>133</Paragraphs>
  <Slides>47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Corbel</vt:lpstr>
      <vt:lpstr>IBM Plex Serif SemiBold</vt:lpstr>
      <vt:lpstr>Menlo</vt:lpstr>
      <vt:lpstr>quote-cjk-patch</vt:lpstr>
      <vt:lpstr>Wingdings 2</vt:lpstr>
      <vt:lpstr>Cadre</vt:lpstr>
      <vt:lpstr>Présentation PowerPoint</vt:lpstr>
      <vt:lpstr>Plan de la présentation</vt:lpstr>
      <vt:lpstr>Introduction</vt:lpstr>
      <vt:lpstr>Les outils et bibliothèque utiliser</vt:lpstr>
      <vt:lpstr>Objectif : Créer une application web complète de gestion restaurant avec : 5 entités CRUD minimum et deux  page  web (authentification+ index(tableau de bord)   </vt:lpstr>
      <vt:lpstr>Démonstration – Fonctionnalités</vt:lpstr>
      <vt:lpstr>Démonstration – Fonctionnalités</vt:lpstr>
      <vt:lpstr>Présentation PowerPoint</vt:lpstr>
      <vt:lpstr>Démonstration tableau bord</vt:lpstr>
      <vt:lpstr>Présentation PowerPoint</vt:lpstr>
      <vt:lpstr>Présentation PowerPoint</vt:lpstr>
      <vt:lpstr>Présentation PowerPoint</vt:lpstr>
      <vt:lpstr>Le tri par catégorie (exemple catégorie plat principal)</vt:lpstr>
      <vt:lpstr>Le tri a l’aide des fonnctions en javascript comme filterdata(),et sortData()</vt:lpstr>
      <vt:lpstr>Récupération des données a l’aide des eventlisteners pour l’utiliser dans la recherche et le filtre</vt:lpstr>
      <vt:lpstr>Gestion CRUD (5 Entités) </vt:lpstr>
      <vt:lpstr>La fonnction afficher, apres cliquer sur l’icon la page detail plat s’affiche </vt:lpstr>
      <vt:lpstr>Présentation PowerPoint</vt:lpstr>
      <vt:lpstr>Fonction ajouter:onclique sur le bouton ajouter apres nouvelle page s’ouvre</vt:lpstr>
      <vt:lpstr>On remplis les informations</vt:lpstr>
      <vt:lpstr>Le nouveau plat est ajoutée avec succès</vt:lpstr>
      <vt:lpstr>Présentation PowerPoint</vt:lpstr>
      <vt:lpstr>Sauvegarde des données (ajouter) </vt:lpstr>
      <vt:lpstr>Fonction modifier (après avoir cliquer sur l’icon une nouvel page de modifier s’affiche)</vt:lpstr>
      <vt:lpstr>Fonction modifier(après remplir les information a modifier le nouveau nom du plat est mis a jour)</vt:lpstr>
      <vt:lpstr>Partie de code de function modifier</vt:lpstr>
      <vt:lpstr>La fonction supprimer(apprés avoir cliquer sur l’icon supprimer un pop-up s’affiche après confirmer le plat est supprimer avec succés</vt:lpstr>
      <vt:lpstr>Présentation PowerPoint</vt:lpstr>
      <vt:lpstr>Présentation PowerPoint</vt:lpstr>
      <vt:lpstr> N,B: t('crud.deleteConfirm') ? t(‘crud,deleteConfirm’)C'est un système d'internationalisation  de la bibliothèque (i18n) pour la géneration et la  traduction automatique du message de la sûppression </vt:lpstr>
      <vt:lpstr>Les différents fonctions crud utiliser dans le code source</vt:lpstr>
      <vt:lpstr>La pagination</vt:lpstr>
      <vt:lpstr>Présentation PowerPoint</vt:lpstr>
      <vt:lpstr>Présentation PowerPoint</vt:lpstr>
      <vt:lpstr>Apres cliquer sur le bouton exporter csv le teléchargement du fichier,csv se lance</vt:lpstr>
      <vt:lpstr>Voici le fichier excel avec les données</vt:lpstr>
      <vt:lpstr>Apres cliquer sur le bouton exporter pdf, le teléchargement du fichier pdf se lance</vt:lpstr>
      <vt:lpstr>Voici le fichier pdf avec les données</vt:lpstr>
      <vt:lpstr>Présentation PowerPoint</vt:lpstr>
      <vt:lpstr>A l’aide du bibliothèque jsPDF et des fonctions comme  exportTOCSV();</vt:lpstr>
      <vt:lpstr>après choisir la langue voici La traduction du page web,</vt:lpstr>
      <vt:lpstr>La traduction en arabe</vt:lpstr>
      <vt:lpstr>La traduction en anglais</vt:lpstr>
      <vt:lpstr>La bibliothèque de traduction i18n</vt:lpstr>
      <vt:lpstr>Voici le lien enligne du site web hébergé par GitHub</vt:lpstr>
      <vt:lpstr>Conclusion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Technonet</dc:creator>
  <cp:lastModifiedBy>Ayoub Elachab</cp:lastModifiedBy>
  <cp:revision>4</cp:revision>
  <dcterms:created xsi:type="dcterms:W3CDTF">2025-05-19T18:44:30Z</dcterms:created>
  <dcterms:modified xsi:type="dcterms:W3CDTF">2026-01-06T02:13:10Z</dcterms:modified>
</cp:coreProperties>
</file>